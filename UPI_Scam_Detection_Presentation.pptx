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728655" cy="502920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371600"/>
            <a:ext cx="3474720" cy="34747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PBL-III (AIM3170) • MENTOR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rial"/>
              </a:defRPr>
            </a:pPr>
            <a:r>
              <a:t>AI-Powered UPI Scam &amp; Fraud Detection</a:t>
            </a:r>
          </a:p>
          <a:p>
            <a:pPr>
              <a:spcBef>
                <a:spcPts val="800"/>
              </a:spcBef>
              <a:defRPr sz="1500">
                <a:solidFill>
                  <a:srgbClr val="4299E1"/>
                </a:solidFill>
                <a:latin typeface="Arial"/>
              </a:defRPr>
            </a:pPr>
            <a:r>
              <a:t>Behavioral Anomaly Detection &amp; Multi-Hop Graph Layering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4747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PROJECT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3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FinTech Cybersecurity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Unsupervised Anomaly Detection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Directed Graph NetworkX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4747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CORE ML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97763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Isolation Forest Model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StandardScaler Normalization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Exact 30 Model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7472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ACADEMIC 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97763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Manipal University Jaipur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Dept. of AIML (2026)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  <a:latin typeface="Arial"/>
              </a:defRPr>
            </a:pPr>
            <a:r>
              <a:t>• Application-Based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 &amp; Industry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38404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The Modern UPI Scam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Massive Velocity &amp; Irreversibility: </a:t>
            </a:r>
            <a:r>
              <a:rPr>
                <a:solidFill>
                  <a:srgbClr val="A0AEC0"/>
                </a:solidFill>
              </a:rPr>
              <a:t>UPI processes billions of transactions monthly. Instant settlements give victims zero rollback window.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Social Engineering Scams: </a:t>
            </a:r>
            <a:r>
              <a:rPr>
                <a:solidFill>
                  <a:srgbClr val="A0AEC0"/>
                </a:solidFill>
              </a:rPr>
              <a:t>Phishing QR codes, fake customer care refunds, and remote-screen-share tools coerce authorized debits.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Account Takeover Bursts: </a:t>
            </a:r>
            <a:r>
              <a:rPr>
                <a:solidFill>
                  <a:srgbClr val="A0AEC0"/>
                </a:solidFill>
              </a:rPr>
              <a:t>Unrecognized devices draining 100% balance during nocturnal hours (22:00 – 06:00).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Mule Layering Networks: </a:t>
            </a:r>
            <a:r>
              <a:rPr>
                <a:solidFill>
                  <a:srgbClr val="A0AEC0"/>
                </a:solidFill>
              </a:rPr>
              <a:t>Stolen money is split across multiple intermediary accounts within minutes to prevent fund freezing.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38404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Why Traditional Rule Engines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High False Positive Rates: </a:t>
            </a:r>
            <a:r>
              <a:rPr>
                <a:solidFill>
                  <a:srgbClr val="A0AEC0"/>
                </a:solidFill>
              </a:rPr>
              <a:t>Static rules (e.g. Amount &gt; ₹50,000) trigger false alarms on genuine high-value users while missing micro-layering.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Siloed Per-Transaction Analysis: </a:t>
            </a:r>
            <a:r>
              <a:rPr>
                <a:solidFill>
                  <a:srgbClr val="A0AEC0"/>
                </a:solidFill>
              </a:rPr>
              <a:t>Evaluating transfers individually fails to detect multi-transfer bursts and rapid forwarding chains.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Black-Box Opacity: </a:t>
            </a:r>
            <a:r>
              <a:rPr>
                <a:solidFill>
                  <a:srgbClr val="A0AEC0"/>
                </a:solidFill>
              </a:rPr>
              <a:t>Investigators receive raw flags without actionable risk levels or supporting behavioral evidence.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ED8936"/>
                </a:solidFill>
              </a:rPr>
              <a:t>Our Core Approach: </a:t>
            </a:r>
            <a:r>
              <a:rPr>
                <a:solidFill>
                  <a:srgbClr val="A0AEC0"/>
                </a:solidFill>
              </a:rPr>
              <a:t>Unsupervised Isolation Forest + 30 chronological behavioral features + NetworkX graph topology.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Arial"/>
              </a:defRPr>
            </a:pPr>
            <a:r>
              <a:t>🎯 Objective: Build an interactive batch investigation system that ingests monthly transaction datasets, computes 30 leak-free behavioral features, ranks suspicious transactions by anomaly score, and provides actionable triage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PBL-II Recap &amp; Transition to PBL-III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PBL-II Foundation (AI Health Assistant)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Supervised ML Classification: </a:t>
            </a:r>
            <a:r>
              <a:rPr>
                <a:solidFill>
                  <a:srgbClr val="A0AEC0"/>
                </a:solidFill>
              </a:rPr>
              <a:t>Trained supervised models on multi-symptom vectors to predict clinical disease categories.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Fuzzy Dietary Recommendation: </a:t>
            </a:r>
            <a:r>
              <a:rPr>
                <a:solidFill>
                  <a:srgbClr val="A0AEC0"/>
                </a:solidFill>
              </a:rPr>
              <a:t>Implemented token-sort fuzzy matching (rapidfuzz) on structured food knowledge bases.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Multi-Tab Streamlit UI: </a:t>
            </a:r>
            <a:r>
              <a:rPr>
                <a:solidFill>
                  <a:srgbClr val="A0AEC0"/>
                </a:solidFill>
              </a:rPr>
              <a:t>Built responsive multi-page user interfaces with authentication and session states.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Dual Data Persistence: </a:t>
            </a:r>
            <a:r>
              <a:rPr>
                <a:solidFill>
                  <a:srgbClr val="A0AEC0"/>
                </a:solidFill>
              </a:rPr>
              <a:t>Integrated MongoDB cloud database with structured local JSON fallback.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48BB78"/>
                </a:solidFill>
              </a:rPr>
              <a:t>Key Competencies Acquired: </a:t>
            </a:r>
            <a:r>
              <a:rPr>
                <a:solidFill>
                  <a:srgbClr val="A0AEC0"/>
                </a:solidFill>
              </a:rPr>
              <a:t>Model serialization (pickle), web application deployment, input validation, and user experience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PBL-III Evolution (UPI Scam Detection)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Supervised ➔ Unsupervised Anomaly Detection: </a:t>
            </a:r>
            <a:r>
              <a:rPr>
                <a:solidFill>
                  <a:srgbClr val="A0AEC0"/>
                </a:solidFill>
              </a:rPr>
              <a:t>Replaced static class labels with Isolation Forest to detect unknown and zero-day scam behaviors without ground truth bias.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Single Input ➔ Full Batch Analytics: </a:t>
            </a:r>
            <a:r>
              <a:rPr>
                <a:solidFill>
                  <a:srgbClr val="A0AEC0"/>
                </a:solidFill>
              </a:rPr>
              <a:t>Shifted from single-form user prediction to monthly batch transaction dataset processing.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Strict Leak-Free Feature Engineering: </a:t>
            </a:r>
            <a:r>
              <a:rPr>
                <a:solidFill>
                  <a:srgbClr val="A0AEC0"/>
                </a:solidFill>
              </a:rPr>
              <a:t>Engineered 30 temporal, rolling-window, and expanding statistics strictly prior to each event (t_prior &lt; t_current).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Relational Graph Modeling: </a:t>
            </a:r>
            <a:r>
              <a:rPr>
                <a:solidFill>
                  <a:srgbClr val="A0AEC0"/>
                </a:solidFill>
              </a:rPr>
              <a:t>Added NetworkX graph analysis layer to trace multi-hop layering chains (A ➔ B ➔ C ➔ D).</a:t>
            </a:r>
          </a:p>
          <a:p>
            <a:pPr>
              <a:spcAft>
                <a:spcPts val="8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00D2FF"/>
                </a:solidFill>
              </a:rPr>
              <a:t>Investigative Decision Support: </a:t>
            </a:r>
            <a:r>
              <a:rPr>
                <a:solidFill>
                  <a:srgbClr val="A0AEC0"/>
                </a:solidFill>
              </a:rPr>
              <a:t>Tiered risk classifications (High/Medium/Low) and feature vector inspection for security analysts.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System Architecture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01. BATCH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Accepts raw monthly transaction CSV with 14 mandatory attributes.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08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02. DATA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7451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Validates columns, nulls, unique transaction IDs, non-negative amounts.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508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03. FEATURE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187451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Vectorized chronological calculation of exactly 30 ML features without data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04.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Selective np.log1p on 11 log features + StandardScaler.transform() (never refitted).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657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94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05. ISOLATION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16052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Inference via pre-trained isolation_forest.pkl generating continuous decision anomaly scores.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657600"/>
            <a:ext cx="3429000" cy="205740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3" y="37947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06. STREAMLIT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16052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A0AEC0"/>
                </a:solidFill>
                <a:latin typeface="Arial"/>
              </a:defRPr>
            </a:pPr>
            <a:r>
              <a:t>6-section dashboard: KPIs, ranked suspicious table, charts, inspector, and CSV downloads.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Arial"/>
              </a:defRPr>
            </a:pPr>
            <a:r>
              <a:t>🔒 Architectural Rule: Pre-trained Isolation Forest and StandardScaler are completely immutable artifacts. No refitting or retraining occurs during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Engineering: The 30 Model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1. Direct &amp; Temporal Features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amount (Transferred sum in $)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transaction_step (Timeline hour index)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sender_old_balance / sender_new_balance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receiver_old_balance / receiver_new_balance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device_change_flag / new_device_flag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transaction_hour (0–23 extracted from timestamp)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is_night (Binary: 1 if 22:00–06:00, else 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39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2. Historical Interaction Counts 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sender_txn_count_before (Prior transactions sent)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same_step_txn_count_before (Txns in same step)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sender_receiver_txn_count_before (Pair history)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sender_unique_recipients_before (Unique recipients)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receiver_txn_count_before (Prior transactions received)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receiver_unique_senders_before (Unique senders)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3. Expanding Statistics &amp; Ratios (6)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sender_balance_ratio (amount / [sender_old_balance + 1])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time_since_previous_sender_txn (Hours, -1 if 1st txn)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sender_amount_mean_before (Expanding mean)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sender_amount_std_before (Expanding sample std)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amount_deviation (abs[amount - mean_before])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amount_zscore (Standardized deviation score)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0332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404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4. Rolling Velocity &amp; Chains (8)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1480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txns_last_1h (Rolling 1h count via searchsorted)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txns_last_6h (Rolling 6h count via searchsorted)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txns_last_24h (Rolling 24h count via searchsorted)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rapid_transaction_flag (Burst indicator: time &lt;= 6min)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hop_number (Position in transfer money flow chain)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chain_length (Total length of money laundering chain)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chain_duration_steps (Duration from chain root)</a:t>
            </a:r>
          </a:p>
          <a:p>
            <a:pPr>
              <a:spcAft>
                <a:spcPts val="150"/>
              </a:spcAft>
              <a:defRPr sz="850">
                <a:solidFill>
                  <a:srgbClr val="A0AEC0"/>
                </a:solidFill>
                <a:latin typeface="Arial"/>
              </a:defRPr>
            </a:pPr>
            <a:r>
              <a:t>• transaction_frequency (Baseline observation rate)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23560"/>
            <a:ext cx="10698480" cy="59436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8BB78"/>
                </a:solidFill>
                <a:latin typeface="Arial"/>
              </a:defRPr>
            </a:pPr>
            <a:r>
              <a:t>⚡ Data Leakage Guarantee: Transactions are sorted chronologically (timestamp + step + index). Every rolling window and cumulative count only evaluates events prior to current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Interactive Batch Dashboard (Streamlit 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1: Upload &amp; 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Drag-and-drop CSV uploader validating 14 raw columns, duplicate IDs, null values, and negative amounts with 1-click demo dataset loading.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630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2: Executive Overview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7373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High-level metrics: total transaction volume, normal vs. anomaly breakdown, anomaly rate (%), highest-risk transaction ID, and minimum anomaly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2588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4630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3: Ranked Suspicious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17373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Prioritized data table sorted by anomaly score ascending. Interactive filtering by Risk Tier (High/Medium/Low), Prediction, Type, and Display Limits (Top 10 to All).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4: Visual Anomaly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Interactive charting tabs: Class distributions, anomaly score histograms, temporal step trends, transaction type breakdowns, and top-10 extreme score rankings.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42900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5661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5: 30-Feature Deep-Dive Inspector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84048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Select any transaction ID to view all 14 raw input attributes alongside the complete 30-feature vector before and after log transformations and scaling.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429000"/>
            <a:ext cx="3429000" cy="196596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3" y="35661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Section 6: Scored &amp; Filtered CSV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84048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A0AEC0"/>
                </a:solidFill>
                <a:latin typeface="Arial"/>
              </a:defRPr>
            </a:pPr>
            <a:r>
              <a:t>One-click export of complete scored dataset (original columns + score + prediction + risk_level) or anomalies-only CSV for audit teams.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0E1730"/>
          </a:solidFill>
          <a:ln w="1524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  <a:latin typeface="Arial"/>
              </a:defRPr>
            </a:pPr>
            <a:r>
              <a:t>📊 Risk Classification Framework:</a:t>
            </a:r>
            <a:br/>
            <a:r>
              <a:t>• High Risk: Anomaly Score &lt; -0.05 (Immediate investigation priority)</a:t>
            </a:r>
            <a:br/>
            <a:r>
              <a:t>• Medium Risk: -0.05 ≤ Anomaly Score &lt; 0.00 (Secondary review)</a:t>
            </a:r>
            <a:br/>
            <a:r>
              <a:t>• Normal / Low Risk: Anomaly Score ≥ 0.00 (Conforms to expected behavioral baseline)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Automated Verification &amp; Pipeline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15/15 Automated Test Suite (100% 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 &amp; 2: Benchmark loaded (500 txns) &amp; 14 required columns validated.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3, 4 &amp; 5: Exactly 30 features generated matching saved configuration order.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6: Exact 11 log features transformed using np.log1p().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7 &amp; 8: StandardScaler.transform() executed; scaler was NOT refitted.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9 &amp; 10: Isolation Forest loaded; model was NOT retrained.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11 &amp; 12: 100% of transactions scored with continuous decision score &amp; discrete prediction.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13: All 14 original columns preserved alongside anomaly outputs.</a:t>
            </a:r>
          </a:p>
          <a:p>
            <a:pPr>
              <a:spcAft>
                <a:spcPts val="500"/>
              </a:spcAft>
              <a:defRPr sz="950">
                <a:solidFill>
                  <a:srgbClr val="F8FAFC"/>
                </a:solidFill>
                <a:latin typeface="Arial"/>
              </a:defRPr>
            </a:pPr>
            <a:r>
              <a:t>✓ Test 14 &amp; 15: Complete scored CSV and filtered anomalies-only CSV exported successfully.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Live Detection Scenarios &amp;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050" b="1">
                <a:solidFill>
                  <a:srgbClr val="48BB78"/>
                </a:solidFill>
                <a:latin typeface="Arial"/>
              </a:defRPr>
            </a:pPr>
            <a:r>
              <a:t>Scenario 1: Normal Daytime Payment</a:t>
            </a:r>
          </a:p>
          <a:p>
            <a:pPr>
              <a:spcAft>
                <a:spcPts val="600"/>
              </a:spcAft>
              <a:defRPr sz="900">
                <a:solidFill>
                  <a:srgbClr val="A0AEC0"/>
                </a:solidFill>
                <a:latin typeface="Arial"/>
              </a:defRPr>
            </a:pPr>
            <a:r>
              <a:t>Transfer $1,200 during daytime (14:30) from registered device with consistent historical balance ratio.</a:t>
            </a:r>
            <a:br/>
            <a:r>
              <a:t>➔ Anomaly Score: +0.0237 | Prediction: +1 (Normal / Low Risk)</a:t>
            </a:r>
          </a:p>
          <a:p>
            <a:pPr>
              <a:spcBef>
                <a:spcPts val="600"/>
              </a:spcBef>
              <a:defRPr sz="1050" b="1">
                <a:solidFill>
                  <a:srgbClr val="F56565"/>
                </a:solidFill>
                <a:latin typeface="Arial"/>
              </a:defRPr>
            </a:pPr>
            <a:r>
              <a:t>Scenario 2: Nocturnal Account Takeover</a:t>
            </a:r>
          </a:p>
          <a:p>
            <a:pPr>
              <a:spcAft>
                <a:spcPts val="600"/>
              </a:spcAft>
              <a:defRPr sz="900">
                <a:solidFill>
                  <a:srgbClr val="A0AEC0"/>
                </a:solidFill>
                <a:latin typeface="Arial"/>
              </a:defRPr>
            </a:pPr>
            <a:r>
              <a:t>Transfer $850,000 at 03:15 AM from an unrecognized new device draining 100% of sender's balance to a newly created account.</a:t>
            </a:r>
            <a:br/>
            <a:r>
              <a:t>➔ Anomaly Score: -0.1428 | Prediction: -1 (High Risk)</a:t>
            </a:r>
          </a:p>
          <a:p>
            <a:pPr>
              <a:spcBef>
                <a:spcPts val="600"/>
              </a:spcBef>
              <a:defRPr sz="1050" b="1">
                <a:solidFill>
                  <a:srgbClr val="ED8936"/>
                </a:solidFill>
                <a:latin typeface="Arial"/>
              </a:defRPr>
            </a:pPr>
            <a:r>
              <a:t>Scenario 3: Rapid Mule Layering Hop</a:t>
            </a:r>
          </a:p>
          <a:p>
            <a:pPr>
              <a:spcAft>
                <a:spcPts val="600"/>
              </a:spcAft>
              <a:defRPr sz="900">
                <a:solidFill>
                  <a:srgbClr val="A0AEC0"/>
                </a:solidFill>
                <a:latin typeface="Arial"/>
              </a:defRPr>
            </a:pPr>
            <a:r>
              <a:t>Account receives large transfer and immediately forwards $79,000 downstream within 6 minutes to third-party node.</a:t>
            </a:r>
            <a:br/>
            <a:r>
              <a:t>➔ Anomaly Score: -0.0969 | Prediction: -1 (High Risk)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Post-Midterm Roadmap &amp; Upcoming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1: NetworkX Directed Graph Engine  </a:t>
            </a:r>
            <a:r>
              <a:rPr sz="950" b="1">
                <a:solidFill>
                  <a:srgbClr val="00D2FF"/>
                </a:solidFill>
                <a:latin typeface="Arial"/>
              </a:rPr>
              <a:t>[IN PROGRESS]
</a:t>
            </a:r>
            <a:r>
              <a:rPr sz="900">
                <a:solidFill>
                  <a:srgbClr val="A0AEC0"/>
                </a:solidFill>
                <a:latin typeface="Arial"/>
              </a:rPr>
              <a:t>Construct directed money-flow graphs where accounts represent nodes and fund transfers form weighted edges with timestamp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2: Multi-Hop Scam Chain Detection  </a:t>
            </a:r>
            <a:r>
              <a:rPr sz="950" b="1">
                <a:solidFill>
                  <a:srgbClr val="4299E1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Implement cycle detection and path search algorithms to identify rapid layering chains (A ➔ B ➔ C ➔ D) and fund dispersal syndicates.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3: Combined Multi-Signal Risk Engine  </a:t>
            </a:r>
            <a:r>
              <a:rPr sz="950" b="1">
                <a:solidFill>
                  <a:srgbClr val="9F7AEA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Synthesize behavioral Isolation Forest scores (60%) with graph topology centralities (40%) into a unified 0–100 composite risk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4: Interactive Network Visualizer  </a:t>
            </a:r>
            <a:r>
              <a:rPr sz="950" b="1">
                <a:solidFill>
                  <a:srgbClr val="ED8936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Develop interactive node-link visualizers in the Streamlit UI to display money flow subgraphs for suspicious accounts.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8686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Arial"/>
              </a:rPr>
              <a:t>Milestone 5: Evaluation &amp; Final Report  </a:t>
            </a:r>
            <a:r>
              <a:rPr sz="950" b="1">
                <a:solidFill>
                  <a:srgbClr val="48BB78"/>
                </a:solidFill>
                <a:latin typeface="Arial"/>
              </a:rPr>
              <a:t>[UPCOMING]
</a:t>
            </a:r>
            <a:r>
              <a:rPr sz="900">
                <a:solidFill>
                  <a:srgbClr val="A0AEC0"/>
                </a:solidFill>
                <a:latin typeface="Arial"/>
              </a:rPr>
              <a:t>Precision/recall evaluation on labelled UPI data, ablation study, and final report. (Database storage dropped from scope.)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FF"/>
                </a:solidFill>
                <a:latin typeface="Arial"/>
              </a:defRPr>
            </a:pPr>
            <a:r>
              <a:t>PBL-III (AIM3170) | MENTOR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Summary &amp; Mentor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Arial"/>
              </a:defRPr>
            </a:pPr>
            <a:r>
              <a:t>Dept. of Artificial Intelligence &amp; Machine Learning  |  Manipal University Jaipur  |  AI-Powered UPI Scam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Key Achievements Till Mid-Term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Working Batch Engine: </a:t>
            </a:r>
            <a:r>
              <a:rPr>
                <a:solidFill>
                  <a:srgbClr val="A0AEC0"/>
                </a:solidFill>
              </a:rPr>
              <a:t>Built high-performance feature engineering calculating 30 ML features from raw monthly CSV batches without future data leakage.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Strict Model Integrity: </a:t>
            </a:r>
            <a:r>
              <a:rPr>
                <a:solidFill>
                  <a:srgbClr val="A0AEC0"/>
                </a:solidFill>
              </a:rPr>
              <a:t>Integrated pre-trained Isolation Forest and StandardScaler as immutable artifacts with zero refitting or retraining.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Comprehensive Streamlit Dashboard: </a:t>
            </a:r>
            <a:r>
              <a:rPr>
                <a:solidFill>
                  <a:srgbClr val="A0AEC0"/>
                </a:solidFill>
              </a:rPr>
              <a:t>Developed complete 6-section UI featuring dataset overview KPIs, suspicious transaction filters, analytics charts, feature deep-dive, and exports.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✓ </a:t>
            </a:r>
            <a:r>
              <a:rPr b="1">
                <a:solidFill>
                  <a:srgbClr val="48BB78"/>
                </a:solidFill>
              </a:rPr>
              <a:t>100% Automated Test Suite: </a:t>
            </a:r>
            <a:r>
              <a:rPr>
                <a:solidFill>
                  <a:srgbClr val="A0AEC0"/>
                </a:solidFill>
              </a:rPr>
              <a:t>Passed all 15 operational test assertions validating pipeline correctness.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31E3A"/>
          </a:solidFill>
          <a:ln w="1524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Discussion Points for Mentor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Graph Topology Scaling: </a:t>
            </a:r>
            <a:r>
              <a:rPr>
                <a:solidFill>
                  <a:srgbClr val="A0AEC0"/>
                </a:solidFill>
              </a:rPr>
              <a:t>Best practices for constructing dynamic transaction subgraphs in NetworkX when batch sizes scale past 100,000 nodes.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Composite Risk Weighting: </a:t>
            </a:r>
            <a:r>
              <a:rPr>
                <a:solidFill>
                  <a:srgbClr val="A0AEC0"/>
                </a:solidFill>
              </a:rPr>
              <a:t>Refining weighting formulas between tabular Isolation Forest anomaly scores (60%) and graph degree centralities (40%).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Evaluation Benchmarks: </a:t>
            </a:r>
            <a:r>
              <a:rPr>
                <a:solidFill>
                  <a:srgbClr val="A0AEC0"/>
                </a:solidFill>
              </a:rPr>
              <a:t>Feedback on synthetic fraud injection scenarios (layering, account takeover, fan-out dispersal) for precision/recall benchmarking.</a:t>
            </a:r>
          </a:p>
          <a:p>
            <a:pPr>
              <a:spcAft>
                <a:spcPts val="1000"/>
              </a:spcAft>
              <a:defRPr sz="1000">
                <a:solidFill>
                  <a:srgbClr val="F8FAFC"/>
                </a:solidFill>
                <a:latin typeface="Arial"/>
              </a:defRPr>
            </a:pPr>
            <a:r>
              <a:t>❓ </a:t>
            </a:r>
            <a:r>
              <a:rPr b="1">
                <a:solidFill>
                  <a:srgbClr val="ED8936"/>
                </a:solidFill>
              </a:rPr>
              <a:t>Live Demonstration: </a:t>
            </a:r>
            <a:r>
              <a:rPr>
                <a:solidFill>
                  <a:srgbClr val="A0AEC0"/>
                </a:solidFill>
              </a:rPr>
              <a:t>Ready to demonstrate the interactive Streamlit batch application during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